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58" r:id="rId3"/>
    <p:sldId id="262" r:id="rId4"/>
    <p:sldId id="263" r:id="rId5"/>
    <p:sldId id="264" r:id="rId6"/>
    <p:sldId id="265" r:id="rId7"/>
    <p:sldId id="268" r:id="rId8"/>
    <p:sldId id="270" r:id="rId9"/>
    <p:sldId id="26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542"/>
    <a:srgbClr val="FF002B"/>
    <a:srgbClr val="C95C3A"/>
    <a:srgbClr val="C75B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7F1FF7-EF15-2C4A-A8A7-A85D250179DF}" v="53" dt="2026-05-07T01:38:52.3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24" autoAdjust="0"/>
    <p:restoredTop sz="86472"/>
  </p:normalViewPr>
  <p:slideViewPr>
    <p:cSldViewPr snapToGrid="0">
      <p:cViewPr varScale="1">
        <p:scale>
          <a:sx n="100" d="100"/>
          <a:sy n="100" d="100"/>
        </p:scale>
        <p:origin x="147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C54B6-3A06-4A98-8DD7-91AC2EA515D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49EEB9-1E5D-4336-B1B3-152F63E4D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023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B03A62-B4E1-4E76-92D8-4DA5B42024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981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9EEB9-1E5D-4336-B1B3-152F63E4D1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96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9EEB9-1E5D-4336-B1B3-152F63E4D1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41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9EEB9-1E5D-4336-B1B3-152F63E4D1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46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9EEB9-1E5D-4336-B1B3-152F63E4D1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88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9EEB9-1E5D-4336-B1B3-152F63E4D13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96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m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500" i="0">
                <a:solidFill>
                  <a:srgbClr val="C95C3A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9224" y="585894"/>
            <a:ext cx="1973552" cy="197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92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onogram 2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500" i="0">
                <a:solidFill>
                  <a:srgbClr val="C75B1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10934" y="585894"/>
            <a:ext cx="1970131" cy="197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64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onogram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500" i="0">
                <a:solidFill>
                  <a:srgbClr val="C75B1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10934" y="585894"/>
            <a:ext cx="1970131" cy="197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88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onogram Word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 i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500" i="0">
                <a:solidFill>
                  <a:srgbClr val="C95C3A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5897" y="205964"/>
            <a:ext cx="5240206" cy="209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84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ordmar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C99210-9F21-304E-BAB5-5C46220805BC}"/>
              </a:ext>
            </a:extLst>
          </p:cNvPr>
          <p:cNvSpPr/>
          <p:nvPr userDrawn="1"/>
        </p:nvSpPr>
        <p:spPr>
          <a:xfrm>
            <a:off x="0" y="6228863"/>
            <a:ext cx="12192000" cy="629137"/>
          </a:xfrm>
          <a:prstGeom prst="rect">
            <a:avLst/>
          </a:prstGeom>
          <a:solidFill>
            <a:srgbClr val="C95C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0">
              <a:ln>
                <a:noFill/>
              </a:ln>
              <a:solidFill>
                <a:srgbClr val="C95C3A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579419"/>
            <a:ext cx="10515600" cy="4362092"/>
          </a:xfrm>
        </p:spPr>
        <p:txBody>
          <a:bodyPr/>
          <a:lstStyle>
            <a:lvl1pPr>
              <a:defRPr sz="2500" i="0"/>
            </a:lvl1pPr>
            <a:lvl2pPr>
              <a:defRPr sz="2000" i="0"/>
            </a:lvl2pPr>
            <a:lvl3pPr>
              <a:defRPr sz="1800" i="0"/>
            </a:lvl3pPr>
            <a:lvl4pPr>
              <a:defRPr sz="1600" i="0"/>
            </a:lvl4pPr>
            <a:lvl5pPr>
              <a:defRPr sz="1400" i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61729"/>
            <a:ext cx="7315200" cy="190307"/>
          </a:xfrm>
        </p:spPr>
        <p:txBody>
          <a:bodyPr rIns="0"/>
          <a:lstStyle>
            <a:lvl1pPr>
              <a:defRPr sz="1000" i="0">
                <a:solidFill>
                  <a:schemeClr val="bg1"/>
                </a:solidFill>
              </a:defRPr>
            </a:lvl1pPr>
          </a:lstStyle>
          <a:p>
            <a:r>
              <a:rPr lang="en-US"/>
              <a:t>Unit Name Here [Go to Insert/Header and Footer in the top toolbar to change the footer text; also to add or remove Slide Number]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3800" y="6464043"/>
            <a:ext cx="358140" cy="190307"/>
          </a:xfrm>
        </p:spPr>
        <p:txBody>
          <a:bodyPr/>
          <a:lstStyle>
            <a:lvl1pPr>
              <a:defRPr sz="1000" i="0">
                <a:solidFill>
                  <a:schemeClr val="bg1"/>
                </a:solidFill>
              </a:defRPr>
            </a:lvl1pPr>
          </a:lstStyle>
          <a:p>
            <a:fld id="{C68DACDF-E1A9-A04C-A5FF-FC2443684BF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138438"/>
            <a:ext cx="12192000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25" y="6228863"/>
            <a:ext cx="3432175" cy="60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862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774E77A-F3AF-2642-9310-AD4C753862B7}"/>
              </a:ext>
            </a:extLst>
          </p:cNvPr>
          <p:cNvSpPr/>
          <p:nvPr userDrawn="1"/>
        </p:nvSpPr>
        <p:spPr>
          <a:xfrm>
            <a:off x="0" y="6228863"/>
            <a:ext cx="12192000" cy="629137"/>
          </a:xfrm>
          <a:prstGeom prst="rect">
            <a:avLst/>
          </a:prstGeom>
          <a:solidFill>
            <a:srgbClr val="C75B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0">
              <a:ln>
                <a:noFill/>
              </a:ln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B1F3F2-2AC7-B443-8B2E-4E2C0AEEA1A6}"/>
              </a:ext>
            </a:extLst>
          </p:cNvPr>
          <p:cNvCxnSpPr/>
          <p:nvPr userDrawn="1"/>
        </p:nvCxnSpPr>
        <p:spPr>
          <a:xfrm>
            <a:off x="0" y="6138438"/>
            <a:ext cx="12192000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61729"/>
            <a:ext cx="7315200" cy="190307"/>
          </a:xfrm>
        </p:spPr>
        <p:txBody>
          <a:bodyPr rIns="0"/>
          <a:lstStyle>
            <a:lvl1pPr>
              <a:defRPr sz="1000" i="0">
                <a:solidFill>
                  <a:schemeClr val="bg1"/>
                </a:solidFill>
              </a:defRPr>
            </a:lvl1pPr>
          </a:lstStyle>
          <a:p>
            <a:r>
              <a:rPr lang="en-US"/>
              <a:t>Unit Name Here [Go to Insert/Header and Footer in the top toolbar to change the footer text; also to add or remove Slide Number]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3800" y="6461729"/>
            <a:ext cx="356616" cy="190307"/>
          </a:xfrm>
        </p:spPr>
        <p:txBody>
          <a:bodyPr/>
          <a:lstStyle>
            <a:lvl1pPr>
              <a:defRPr sz="1000" i="0">
                <a:solidFill>
                  <a:schemeClr val="bg1"/>
                </a:solidFill>
              </a:defRPr>
            </a:lvl1pPr>
          </a:lstStyle>
          <a:p>
            <a:fld id="{C68DACDF-E1A9-A04C-A5FF-FC2443684BF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552" y="6303180"/>
            <a:ext cx="471466" cy="47146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A57F938-CAE3-9A4D-954E-71F2CEBC5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419"/>
            <a:ext cx="10515600" cy="4362092"/>
          </a:xfrm>
        </p:spPr>
        <p:txBody>
          <a:bodyPr/>
          <a:lstStyle>
            <a:lvl1pPr>
              <a:defRPr sz="2500" i="0"/>
            </a:lvl1pPr>
            <a:lvl2pPr>
              <a:defRPr sz="2000" i="0"/>
            </a:lvl2pPr>
            <a:lvl3pPr>
              <a:defRPr sz="1800" i="0"/>
            </a:lvl3pPr>
            <a:lvl4pPr>
              <a:defRPr sz="1600" i="0"/>
            </a:lvl4pPr>
            <a:lvl5pPr>
              <a:defRPr sz="1400"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3456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i="0">
                <a:solidFill>
                  <a:schemeClr val="tx1"/>
                </a:solidFill>
              </a:defRPr>
            </a:lvl1pPr>
          </a:lstStyle>
          <a:p>
            <a:r>
              <a:rPr lang="en-US"/>
              <a:t>Unit Name Here [Go to Insert/Header and Footer in the top toolbar to change the footer text; also to add or remove Slide Number]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i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5D0418A-ADC7-7C49-8916-57C1A6D29F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365355"/>
            <a:ext cx="6705600" cy="230832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</p:spTree>
    <p:extLst>
      <p:ext uri="{BB962C8B-B14F-4D97-AF65-F5344CB8AC3E}">
        <p14:creationId xmlns:p14="http://schemas.microsoft.com/office/powerpoint/2010/main" val="371356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47914"/>
            <a:ext cx="10515600" cy="1157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79418"/>
            <a:ext cx="10515600" cy="4597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61729"/>
            <a:ext cx="7315200" cy="190307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9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en-US"/>
              <a:t>Unit Name Here [Go to Insert/Header and Footer in the top toolbar to change the footer text; also to add or remove Slide Number]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6461729"/>
            <a:ext cx="356616" cy="190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593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72" r:id="rId3"/>
    <p:sldLayoutId id="2147483673" r:id="rId4"/>
    <p:sldLayoutId id="2147483662" r:id="rId5"/>
    <p:sldLayoutId id="2147483666" r:id="rId6"/>
    <p:sldLayoutId id="2147483670" r:id="rId7"/>
    <p:sldLayoutId id="2147483674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50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F84C2A6-8C0F-8A63-D478-129700F11FB1}"/>
              </a:ext>
            </a:extLst>
          </p:cNvPr>
          <p:cNvSpPr txBox="1"/>
          <p:nvPr/>
        </p:nvSpPr>
        <p:spPr>
          <a:xfrm>
            <a:off x="2222157" y="1231429"/>
            <a:ext cx="774768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2">
                    <a:lumMod val="50000"/>
                  </a:schemeClr>
                </a:solidFill>
              </a:rPr>
              <a:t>Vision-Pointer: Controlling Your Computer with Hand Gestures</a:t>
            </a:r>
            <a:endParaRPr lang="en-US" sz="3200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endParaRPr lang="en-US" sz="32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ea typeface="Urbanist"/>
                <a:cs typeface="Urbanist"/>
                <a:sym typeface="Urbanist"/>
              </a:rPr>
              <a:t>Real-Time Two-Handed Hand Tracking for Virtual Mouse Emulation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Chetan Rahane			Dhairya Saxena</a:t>
            </a:r>
          </a:p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(CRR220000)			(DXS220092)</a:t>
            </a:r>
          </a:p>
          <a:p>
            <a:pPr algn="ctr"/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7CED89-84A6-D695-9723-ECCDF99C65F5}"/>
              </a:ext>
            </a:extLst>
          </p:cNvPr>
          <p:cNvSpPr txBox="1"/>
          <p:nvPr/>
        </p:nvSpPr>
        <p:spPr>
          <a:xfrm>
            <a:off x="296562" y="5684108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May 7,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FE2FC8-7DB9-BB47-3361-8B61D3336AD3}"/>
              </a:ext>
            </a:extLst>
          </p:cNvPr>
          <p:cNvSpPr txBox="1"/>
          <p:nvPr/>
        </p:nvSpPr>
        <p:spPr>
          <a:xfrm>
            <a:off x="11023756" y="5663411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CS6384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9AE099F-803A-8B09-E826-3E612219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20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5CEBDE-BB30-5028-6C89-AF65D4BB23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2" r="3882"/>
          <a:stretch/>
        </p:blipFill>
        <p:spPr>
          <a:xfrm>
            <a:off x="-1" y="9"/>
            <a:ext cx="9669642" cy="635634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C1C428-50BA-F342-7528-4038305E7B80}"/>
              </a:ext>
            </a:extLst>
          </p:cNvPr>
          <p:cNvSpPr txBox="1"/>
          <p:nvPr/>
        </p:nvSpPr>
        <p:spPr>
          <a:xfrm>
            <a:off x="8071105" y="616936"/>
            <a:ext cx="3822189" cy="55838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b="1" dirty="0">
                <a:solidFill>
                  <a:schemeClr val="accent2">
                    <a:lumMod val="50000"/>
                  </a:schemeClr>
                </a:solidFill>
              </a:rPr>
              <a:t>The Goal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Turn a standard webcam into a high-precision input device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 21 hand landmarks using </a:t>
            </a:r>
            <a:r>
              <a:rPr lang="en-US" dirty="0" err="1"/>
              <a:t>MediaPipe</a:t>
            </a:r>
            <a:r>
              <a:rPr lang="en-US" dirty="0"/>
              <a:t> → map to screen coordinates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Distinguish intentional gestures (click, scroll) from accidental hand movement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Target: 30+ FPS, feel as natural as a real touchpad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ea typeface="Urbanist"/>
                <a:cs typeface="Urbanist"/>
                <a:sym typeface="Urbanist"/>
              </a:rPr>
              <a:t>Leveraging standard consumer webcams without expensive depth sensors.</a:t>
            </a:r>
            <a:endParaRPr lang="en-US" dirty="0"/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19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b="1" dirty="0"/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1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B4991-4CA6-A4A7-5EE2-56E8DF5D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C68DACDF-E1A9-A04C-A5FF-FC2443684BF5}" type="slidenum">
              <a:rPr lang="en-US" sz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 sz="120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F2FBAC9-22DD-8D2D-F511-127B4B22F2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" y="6045201"/>
            <a:ext cx="12188952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70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213EC7F-F118-2932-A80F-51BF583936CC}"/>
              </a:ext>
            </a:extLst>
          </p:cNvPr>
          <p:cNvSpPr txBox="1"/>
          <p:nvPr/>
        </p:nvSpPr>
        <p:spPr>
          <a:xfrm>
            <a:off x="1003300" y="134739"/>
            <a:ext cx="1012190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The Midas Touch Problem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b="1" dirty="0"/>
              <a:t>"The Problem Nobody Warns You About”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first prototype: point with index finger → pinch to click.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What actually happened:</a:t>
            </a:r>
            <a:r>
              <a:rPr lang="en-US" dirty="0"/>
              <a:t> When you close your hand to click, your pointing finger physically moves. The cursor slides off the button at the exact moment you click.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the </a:t>
            </a:r>
            <a:r>
              <a:rPr lang="en-US" b="1" dirty="0"/>
              <a:t>Midas Touch problem</a:t>
            </a:r>
            <a:r>
              <a:rPr lang="en-US" dirty="0"/>
              <a:t> — documented in HCI research. This caused failure in several single-hand gesture we tried: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40D30A-AFE9-602E-22A9-4AAB92E1E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3FDD72-CB08-C0BC-3D19-CFD237256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806021"/>
              </p:ext>
            </p:extLst>
          </p:nvPr>
        </p:nvGraphicFramePr>
        <p:xfrm>
          <a:off x="2032000" y="3429000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076">
                  <a:extLst>
                    <a:ext uri="{9D8B030D-6E8A-4147-A177-3AD203B41FA5}">
                      <a16:colId xmlns:a16="http://schemas.microsoft.com/office/drawing/2014/main" val="1770267952"/>
                    </a:ext>
                  </a:extLst>
                </a:gridCol>
                <a:gridCol w="2756079">
                  <a:extLst>
                    <a:ext uri="{9D8B030D-6E8A-4147-A177-3AD203B41FA5}">
                      <a16:colId xmlns:a16="http://schemas.microsoft.com/office/drawing/2014/main" val="3677377867"/>
                    </a:ext>
                  </a:extLst>
                </a:gridCol>
                <a:gridCol w="5072844">
                  <a:extLst>
                    <a:ext uri="{9D8B030D-6E8A-4147-A177-3AD203B41FA5}">
                      <a16:colId xmlns:a16="http://schemas.microsoft.com/office/drawing/2014/main" val="1727456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Why It Failed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958118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Pinch</a:t>
                      </a:r>
                      <a:r>
                        <a:rPr lang="en-US" dirty="0">
                          <a:effectLst/>
                        </a:rPr>
                        <a:t> (</a:t>
                      </a:r>
                      <a:r>
                        <a:rPr lang="en-US" dirty="0" err="1">
                          <a:effectLst/>
                        </a:rPr>
                        <a:t>thumb→index</a:t>
                      </a:r>
                      <a:r>
                        <a:rPr lang="en-US" dirty="0">
                          <a:effectLst/>
                        </a:rPr>
                        <a:t>) </a:t>
                      </a:r>
                      <a:r>
                        <a:rPr lang="en-US" dirty="0"/>
                        <a:t>🤏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Thumb movement shifts the index — cursor drifts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58939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OK Sign</a:t>
                      </a:r>
                      <a:r>
                        <a:rPr lang="en-US" dirty="0">
                          <a:effectLst/>
                        </a:rPr>
                        <a:t> (pinch + 3 fingers up) </a:t>
                      </a:r>
                      <a:r>
                        <a:rPr lang="en-US" dirty="0"/>
                        <a:t>👌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MediaPipe hallucinates occluded finger positions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06762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Crossed Fingers </a:t>
                      </a:r>
                      <a:r>
                        <a:rPr lang="en-US" dirty="0"/>
                        <a:t>🤞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Same occlusion — random phantom triggers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345169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Thumb-to-Pinky </a:t>
                      </a:r>
                      <a:r>
                        <a:rPr lang="en-US" dirty="0"/>
                        <a:t>🤙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Best detection! But the stretch jerks the index the most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65612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6329642-3CD1-1E3F-6186-B8E7C83DA7CC}"/>
              </a:ext>
            </a:extLst>
          </p:cNvPr>
          <p:cNvSpPr txBox="1"/>
          <p:nvPr/>
        </p:nvSpPr>
        <p:spPr>
          <a:xfrm>
            <a:off x="1003300" y="5626894"/>
            <a:ext cx="1049753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1600" b="1" i="0" dirty="0">
                <a:effectLst/>
              </a:rPr>
              <a:t>Irony:</a:t>
            </a:r>
            <a:r>
              <a:rPr lang="en-US" sz="1600" b="0" i="0" dirty="0">
                <a:effectLst/>
              </a:rPr>
              <a:t> The most reliable gesture caused the most cursor drift. The problem isn't detection — it's biomechanics.</a:t>
            </a:r>
          </a:p>
          <a:p>
            <a:pPr>
              <a:buNone/>
            </a:pPr>
            <a:br>
              <a:rPr lang="en-US" sz="1600" dirty="0"/>
            </a:br>
            <a:endParaRPr lang="en-US" sz="1600" dirty="0"/>
          </a:p>
        </p:txBody>
      </p:sp>
      <p:pic>
        <p:nvPicPr>
          <p:cNvPr id="5" name="Google Shape;113;p15" descr="image.png">
            <a:extLst>
              <a:ext uri="{FF2B5EF4-FFF2-40B4-BE49-F238E27FC236}">
                <a16:creationId xmlns:a16="http://schemas.microsoft.com/office/drawing/2014/main" id="{67064BA6-11A0-3552-080F-C247C5AB8E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02331" y="134739"/>
            <a:ext cx="2941615" cy="17584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9500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644D3AB-B346-0D72-9912-0AECBB7AA209}"/>
              </a:ext>
            </a:extLst>
          </p:cNvPr>
          <p:cNvSpPr txBox="1"/>
          <p:nvPr/>
        </p:nvSpPr>
        <p:spPr>
          <a:xfrm>
            <a:off x="1168400" y="734541"/>
            <a:ext cx="9855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D476EE-2D75-B742-04BA-2ED913FB3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5" name="Google Shape;126;p16">
            <a:extLst>
              <a:ext uri="{FF2B5EF4-FFF2-40B4-BE49-F238E27FC236}">
                <a16:creationId xmlns:a16="http://schemas.microsoft.com/office/drawing/2014/main" id="{F1CA3DCC-EA9A-96DD-B5E0-748B407827AF}"/>
              </a:ext>
            </a:extLst>
          </p:cNvPr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chemeClr val="accent2">
                    <a:lumMod val="50000"/>
                  </a:schemeClr>
                </a:solidFill>
                <a:ea typeface="Urbanist"/>
                <a:cs typeface="Urbanist"/>
                <a:sym typeface="Urbanist"/>
              </a:rPr>
              <a:t>Technical System Overview</a:t>
            </a:r>
            <a:endParaRPr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" name="Google Shape;128;p16">
            <a:extLst>
              <a:ext uri="{FF2B5EF4-FFF2-40B4-BE49-F238E27FC236}">
                <a16:creationId xmlns:a16="http://schemas.microsoft.com/office/drawing/2014/main" id="{311E3D7E-4488-0B11-FC89-F3A31E7286B8}"/>
              </a:ext>
            </a:extLst>
          </p:cNvPr>
          <p:cNvSpPr txBox="1"/>
          <p:nvPr/>
        </p:nvSpPr>
        <p:spPr>
          <a:xfrm>
            <a:off x="952500" y="1451792"/>
            <a:ext cx="5238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ea typeface="Urbanist"/>
                <a:cs typeface="Urbanist"/>
                <a:sym typeface="Urbanist"/>
              </a:rPr>
              <a:t>A real-time Python pipeline processing 42 skeletal landmarks across dual hands.</a:t>
            </a:r>
            <a:endParaRPr sz="2000" dirty="0"/>
          </a:p>
        </p:txBody>
      </p:sp>
      <p:pic>
        <p:nvPicPr>
          <p:cNvPr id="18" name="Google Shape;129;p16" descr="image.png">
            <a:extLst>
              <a:ext uri="{FF2B5EF4-FFF2-40B4-BE49-F238E27FC236}">
                <a16:creationId xmlns:a16="http://schemas.microsoft.com/office/drawing/2014/main" id="{53BC6F63-EFF5-448E-AA1E-D41DC6C458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3247" y="142264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30;p16">
            <a:extLst>
              <a:ext uri="{FF2B5EF4-FFF2-40B4-BE49-F238E27FC236}">
                <a16:creationId xmlns:a16="http://schemas.microsoft.com/office/drawing/2014/main" id="{22766CFB-D124-9D17-7990-4EB6B3580D82}"/>
              </a:ext>
            </a:extLst>
          </p:cNvPr>
          <p:cNvSpPr txBox="1"/>
          <p:nvPr/>
        </p:nvSpPr>
        <p:spPr>
          <a:xfrm>
            <a:off x="952500" y="2510135"/>
            <a:ext cx="48577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ea typeface="Urbanist"/>
                <a:cs typeface="Urbanist"/>
                <a:sym typeface="Urbanist"/>
              </a:rPr>
              <a:t>Backend:</a:t>
            </a:r>
            <a:r>
              <a:rPr lang="en-US" b="0" i="0" u="none" strike="noStrike" cap="none">
                <a:ea typeface="Urbanist"/>
                <a:cs typeface="Urbanist"/>
                <a:sym typeface="Urbanist"/>
              </a:rPr>
              <a:t> OpenCV &amp; MediaPipe Vision API</a:t>
            </a:r>
            <a:endParaRPr sz="2000"/>
          </a:p>
        </p:txBody>
      </p:sp>
      <p:sp>
        <p:nvSpPr>
          <p:cNvPr id="20" name="Google Shape;131;p16">
            <a:extLst>
              <a:ext uri="{FF2B5EF4-FFF2-40B4-BE49-F238E27FC236}">
                <a16:creationId xmlns:a16="http://schemas.microsoft.com/office/drawing/2014/main" id="{B53C89D9-77BE-229A-21AE-8F978FB8955D}"/>
              </a:ext>
            </a:extLst>
          </p:cNvPr>
          <p:cNvSpPr txBox="1"/>
          <p:nvPr/>
        </p:nvSpPr>
        <p:spPr>
          <a:xfrm>
            <a:off x="952500" y="3449091"/>
            <a:ext cx="4857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ea typeface="Urbanist"/>
                <a:cs typeface="Urbanist"/>
                <a:sym typeface="Urbanist"/>
              </a:rPr>
              <a:t>Smoothing:</a:t>
            </a:r>
            <a:r>
              <a:rPr lang="en-US" b="0" i="0" u="none" strike="noStrike" cap="none">
                <a:ea typeface="Urbanist"/>
                <a:cs typeface="Urbanist"/>
                <a:sym typeface="Urbanist"/>
              </a:rPr>
              <a:t> Exponential Moving Average (EMA)</a:t>
            </a:r>
            <a:endParaRPr sz="2000"/>
          </a:p>
        </p:txBody>
      </p:sp>
      <p:sp>
        <p:nvSpPr>
          <p:cNvPr id="21" name="Google Shape;132;p16">
            <a:extLst>
              <a:ext uri="{FF2B5EF4-FFF2-40B4-BE49-F238E27FC236}">
                <a16:creationId xmlns:a16="http://schemas.microsoft.com/office/drawing/2014/main" id="{43825E3B-03ED-F3F6-F4A1-31858395ABA7}"/>
              </a:ext>
            </a:extLst>
          </p:cNvPr>
          <p:cNvSpPr txBox="1"/>
          <p:nvPr/>
        </p:nvSpPr>
        <p:spPr>
          <a:xfrm>
            <a:off x="952500" y="4388048"/>
            <a:ext cx="48577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ea typeface="Urbanist"/>
                <a:cs typeface="Urbanist"/>
                <a:sym typeface="Urbanist"/>
              </a:rPr>
              <a:t>Actuation:</a:t>
            </a:r>
            <a:r>
              <a:rPr lang="en-US" b="0" i="0" u="none" strike="noStrike" cap="none">
                <a:ea typeface="Urbanist"/>
                <a:cs typeface="Urbanist"/>
                <a:sym typeface="Urbanist"/>
              </a:rPr>
              <a:t> PyAutoGUI OS Integration</a:t>
            </a:r>
            <a:endParaRPr sz="2000"/>
          </a:p>
        </p:txBody>
      </p:sp>
      <p:sp>
        <p:nvSpPr>
          <p:cNvPr id="22" name="Google Shape;133;p16">
            <a:extLst>
              <a:ext uri="{FF2B5EF4-FFF2-40B4-BE49-F238E27FC236}">
                <a16:creationId xmlns:a16="http://schemas.microsoft.com/office/drawing/2014/main" id="{4C9EBBE1-C5E4-2A67-A2B1-6E11D07D68ED}"/>
              </a:ext>
            </a:extLst>
          </p:cNvPr>
          <p:cNvSpPr txBox="1"/>
          <p:nvPr/>
        </p:nvSpPr>
        <p:spPr>
          <a:xfrm>
            <a:off x="952500" y="5327005"/>
            <a:ext cx="48577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ea typeface="Urbanist"/>
                <a:cs typeface="Urbanist"/>
                <a:sym typeface="Urbanist"/>
              </a:rPr>
              <a:t>Mapping:</a:t>
            </a:r>
            <a:r>
              <a:rPr lang="en-US" b="0" i="0" u="none" strike="noStrike" cap="none" dirty="0">
                <a:ea typeface="Urbanist"/>
                <a:cs typeface="Urbanist"/>
                <a:sym typeface="Urbanist"/>
              </a:rPr>
              <a:t> Active Zone geometric normalization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006373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854D245-BAAC-FCE9-247F-64AE2066BF0A}"/>
              </a:ext>
            </a:extLst>
          </p:cNvPr>
          <p:cNvSpPr/>
          <p:nvPr/>
        </p:nvSpPr>
        <p:spPr>
          <a:xfrm>
            <a:off x="761999" y="2936383"/>
            <a:ext cx="5095876" cy="20219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3ADD55-FCBA-DF42-DC92-621B65B4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Google Shape;141;p17">
            <a:extLst>
              <a:ext uri="{FF2B5EF4-FFF2-40B4-BE49-F238E27FC236}">
                <a16:creationId xmlns:a16="http://schemas.microsoft.com/office/drawing/2014/main" id="{4E2420C6-467B-B5EA-91BD-27392A1312B2}"/>
              </a:ext>
            </a:extLst>
          </p:cNvPr>
          <p:cNvSpPr txBox="1"/>
          <p:nvPr/>
        </p:nvSpPr>
        <p:spPr>
          <a:xfrm>
            <a:off x="761999" y="571500"/>
            <a:ext cx="55721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chemeClr val="accent2">
                    <a:lumMod val="50000"/>
                  </a:schemeClr>
                </a:solidFill>
                <a:ea typeface="Urbanist"/>
                <a:cs typeface="Urbanist"/>
                <a:sym typeface="Urbanist"/>
              </a:rPr>
              <a:t>Two-Handed Segregation</a:t>
            </a:r>
            <a:endParaRPr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Google Shape;143;p17">
            <a:extLst>
              <a:ext uri="{FF2B5EF4-FFF2-40B4-BE49-F238E27FC236}">
                <a16:creationId xmlns:a16="http://schemas.microsoft.com/office/drawing/2014/main" id="{392E8C17-FDE4-7F61-D01A-4692E015AC48}"/>
              </a:ext>
            </a:extLst>
          </p:cNvPr>
          <p:cNvSpPr txBox="1"/>
          <p:nvPr/>
        </p:nvSpPr>
        <p:spPr>
          <a:xfrm>
            <a:off x="571500" y="1666875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cap="none" dirty="0">
                <a:ea typeface="Urbanist"/>
                <a:cs typeface="Urbanist"/>
                <a:sym typeface="Urbanist"/>
              </a:rPr>
              <a:t>Solving the Midas Touch by physically decoupling the </a:t>
            </a:r>
            <a:r>
              <a:rPr lang="en-US" b="1" i="0" u="none" strike="noStrike" cap="none" dirty="0">
                <a:ea typeface="Urbanist"/>
                <a:cs typeface="Urbanist"/>
                <a:sym typeface="Urbanist"/>
              </a:rPr>
              <a:t>Anchor</a:t>
            </a:r>
            <a:r>
              <a:rPr lang="en-US" b="0" i="0" u="none" strike="noStrike" cap="none" dirty="0">
                <a:ea typeface="Urbanist"/>
                <a:cs typeface="Urbanist"/>
                <a:sym typeface="Urbanist"/>
              </a:rPr>
              <a:t> from the </a:t>
            </a:r>
            <a:r>
              <a:rPr lang="en-US" b="1" i="0" u="none" strike="noStrike" cap="none" dirty="0">
                <a:ea typeface="Urbanist"/>
                <a:cs typeface="Urbanist"/>
                <a:sym typeface="Urbanist"/>
              </a:rPr>
              <a:t>Actuator</a:t>
            </a:r>
            <a:r>
              <a:rPr lang="en-US" b="0" i="0" u="none" strike="noStrike" cap="none" dirty="0">
                <a:ea typeface="Urbanist"/>
                <a:cs typeface="Urbanist"/>
                <a:sym typeface="Urbanist"/>
              </a:rPr>
              <a:t>.</a:t>
            </a:r>
            <a:endParaRPr sz="2000" dirty="0"/>
          </a:p>
        </p:txBody>
      </p:sp>
      <p:sp>
        <p:nvSpPr>
          <p:cNvPr id="10" name="Google Shape;144;p17">
            <a:extLst>
              <a:ext uri="{FF2B5EF4-FFF2-40B4-BE49-F238E27FC236}">
                <a16:creationId xmlns:a16="http://schemas.microsoft.com/office/drawing/2014/main" id="{3D2959DA-F5F9-218D-A8C7-E802F410FE27}"/>
              </a:ext>
            </a:extLst>
          </p:cNvPr>
          <p:cNvSpPr txBox="1"/>
          <p:nvPr/>
        </p:nvSpPr>
        <p:spPr>
          <a:xfrm>
            <a:off x="571500" y="5133379"/>
            <a:ext cx="528637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cap="none" dirty="0">
                <a:ea typeface="Urbanist"/>
                <a:cs typeface="Urbanist"/>
                <a:sym typeface="Urbanist"/>
              </a:rPr>
              <a:t>Zero displacement of the tracking hand during command execution.</a:t>
            </a:r>
            <a:endParaRPr sz="2000" dirty="0"/>
          </a:p>
        </p:txBody>
      </p:sp>
      <p:sp>
        <p:nvSpPr>
          <p:cNvPr id="11" name="Google Shape;145;p17">
            <a:extLst>
              <a:ext uri="{FF2B5EF4-FFF2-40B4-BE49-F238E27FC236}">
                <a16:creationId xmlns:a16="http://schemas.microsoft.com/office/drawing/2014/main" id="{B86D46D0-B9D6-1C45-C260-C01D585FDB0D}"/>
              </a:ext>
            </a:extLst>
          </p:cNvPr>
          <p:cNvSpPr txBox="1"/>
          <p:nvPr/>
        </p:nvSpPr>
        <p:spPr>
          <a:xfrm>
            <a:off x="866775" y="3127771"/>
            <a:ext cx="46958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bg1"/>
                </a:solidFill>
                <a:ea typeface="Urbanist"/>
                <a:cs typeface="Urbanist"/>
                <a:sym typeface="Urbanist"/>
              </a:rPr>
              <a:t>The Core Concept</a:t>
            </a:r>
            <a:endParaRPr sz="2000">
              <a:solidFill>
                <a:schemeClr val="bg1"/>
              </a:solidFill>
            </a:endParaRPr>
          </a:p>
        </p:txBody>
      </p:sp>
      <p:sp>
        <p:nvSpPr>
          <p:cNvPr id="12" name="Google Shape;146;p17">
            <a:extLst>
              <a:ext uri="{FF2B5EF4-FFF2-40B4-BE49-F238E27FC236}">
                <a16:creationId xmlns:a16="http://schemas.microsoft.com/office/drawing/2014/main" id="{D3AF75B6-561D-6E05-52FC-2C3AA04F86D6}"/>
              </a:ext>
            </a:extLst>
          </p:cNvPr>
          <p:cNvSpPr txBox="1"/>
          <p:nvPr/>
        </p:nvSpPr>
        <p:spPr>
          <a:xfrm>
            <a:off x="866775" y="3672482"/>
            <a:ext cx="46958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bg1"/>
                </a:solidFill>
                <a:ea typeface="Urbanist"/>
                <a:cs typeface="Urbanist"/>
                <a:sym typeface="Urbanist"/>
              </a:rPr>
              <a:t>Right Hand = Spatial Anchor (Move/Scroll)</a:t>
            </a:r>
            <a:endParaRPr sz="2000">
              <a:solidFill>
                <a:schemeClr val="bg1"/>
              </a:solidFill>
            </a:endParaRPr>
          </a:p>
        </p:txBody>
      </p:sp>
      <p:sp>
        <p:nvSpPr>
          <p:cNvPr id="13" name="Google Shape;147;p17">
            <a:extLst>
              <a:ext uri="{FF2B5EF4-FFF2-40B4-BE49-F238E27FC236}">
                <a16:creationId xmlns:a16="http://schemas.microsoft.com/office/drawing/2014/main" id="{00CAB523-6143-5D8D-F746-AF18A0DC81BC}"/>
              </a:ext>
            </a:extLst>
          </p:cNvPr>
          <p:cNvSpPr txBox="1"/>
          <p:nvPr/>
        </p:nvSpPr>
        <p:spPr>
          <a:xfrm>
            <a:off x="866775" y="4217193"/>
            <a:ext cx="46958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chemeClr val="bg1"/>
                </a:solidFill>
                <a:ea typeface="Urbanist"/>
                <a:cs typeface="Urbanist"/>
                <a:sym typeface="Urbanist"/>
              </a:rPr>
              <a:t>Left Hand = Event Trigger (Click/Zoom)</a:t>
            </a:r>
            <a:endParaRPr sz="2000" dirty="0">
              <a:solidFill>
                <a:schemeClr val="bg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69D8D36-4A84-565D-358C-E60D70C4E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486" y="1125498"/>
            <a:ext cx="5019566" cy="463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76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155B791-AD06-9022-976E-10A3FBB84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B1D2F-D6D8-8C9E-CA7C-C6DAF718C2F5}"/>
              </a:ext>
            </a:extLst>
          </p:cNvPr>
          <p:cNvSpPr txBox="1"/>
          <p:nvPr/>
        </p:nvSpPr>
        <p:spPr>
          <a:xfrm>
            <a:off x="1382389" y="2588654"/>
            <a:ext cx="85271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Zero artificial latency — cursor moves in real-time with EMA smoothing (</a:t>
            </a:r>
            <a:r>
              <a:rPr lang="el-GR" dirty="0"/>
              <a:t>α=0.3) </a:t>
            </a:r>
            <a:r>
              <a:rPr lang="en-US" dirty="0"/>
              <a:t>for jitter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Clicking with your left hand </a:t>
            </a:r>
            <a:r>
              <a:rPr lang="en-US" b="1" dirty="0"/>
              <a:t>physically cannot</a:t>
            </a:r>
            <a:r>
              <a:rPr lang="en-US" dirty="0"/>
              <a:t> move the cursor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Freeze gesture = open palm on right hand (extending fingers keeps index stable)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Gesture state machine: each action fires once, must reset to open palm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0CDDA84-43C2-D448-03CE-B3CBB1EE5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12845"/>
              </p:ext>
            </p:extLst>
          </p:nvPr>
        </p:nvGraphicFramePr>
        <p:xfrm>
          <a:off x="1581956" y="567410"/>
          <a:ext cx="4999148" cy="198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190">
                  <a:extLst>
                    <a:ext uri="{9D8B030D-6E8A-4147-A177-3AD203B41FA5}">
                      <a16:colId xmlns:a16="http://schemas.microsoft.com/office/drawing/2014/main" val="2563587406"/>
                    </a:ext>
                  </a:extLst>
                </a:gridCol>
                <a:gridCol w="2768958">
                  <a:extLst>
                    <a:ext uri="{9D8B030D-6E8A-4147-A177-3AD203B41FA5}">
                      <a16:colId xmlns:a16="http://schemas.microsoft.com/office/drawing/2014/main" val="401411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RIGHT HAND (Driver)             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LEFT HAND  (Action Center)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488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☝️ Index only → cursor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✊ Fist → left click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503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✌️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Index+Middle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scroll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👍 Thumbs up → right click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29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🖐️ All fingers → FREEZE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✌️ Peace sign → double click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613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🤏 </a:t>
                      </a:r>
                      <a:r>
                        <a:rPr lang="en-US" sz="135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Thumb+Index</a:t>
                      </a:r>
                      <a:r>
                        <a:rPr lang="en-US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zoom in/out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383125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0003411A-1902-3DDF-11AD-B44CB0F19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917" y="290369"/>
            <a:ext cx="4226023" cy="254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63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DDAD7-D619-DE70-A400-4266C2F01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A424BF6-F011-77EA-8630-4595DD4F6B22}"/>
              </a:ext>
            </a:extLst>
          </p:cNvPr>
          <p:cNvSpPr txBox="1"/>
          <p:nvPr/>
        </p:nvSpPr>
        <p:spPr>
          <a:xfrm>
            <a:off x="1079500" y="1782396"/>
            <a:ext cx="10033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chemeClr val="accent2">
                    <a:lumMod val="50000"/>
                  </a:schemeClr>
                </a:solidFill>
                <a:effectLst/>
                <a:latin typeface="Lucida Grande" panose="020B0600040502020204" pitchFamily="34" charset="0"/>
              </a:rPr>
              <a:t>Demo </a:t>
            </a:r>
          </a:p>
          <a:p>
            <a:endParaRPr lang="en-US" sz="1600" i="0" dirty="0">
              <a:effectLst/>
              <a:latin typeface="Lucida Grande" panose="020B0600040502020204" pitchFamily="34" charset="0"/>
            </a:endParaRPr>
          </a:p>
          <a:p>
            <a:endParaRPr lang="en-US" dirty="0"/>
          </a:p>
          <a:p>
            <a:pPr algn="ctr"/>
            <a:r>
              <a:rPr lang="en-US" dirty="0"/>
              <a:t>YouTube Link: https://</a:t>
            </a:r>
            <a:r>
              <a:rPr lang="en-US" dirty="0" err="1"/>
              <a:t>youtu.be</a:t>
            </a:r>
            <a:r>
              <a:rPr lang="en-US" dirty="0"/>
              <a:t>/bYaszyozb3A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F64FDC-44FC-AC57-00B2-5806005E8D9F}"/>
              </a:ext>
            </a:extLst>
          </p:cNvPr>
          <p:cNvSpPr txBox="1"/>
          <p:nvPr/>
        </p:nvSpPr>
        <p:spPr>
          <a:xfrm>
            <a:off x="3055208" y="2413338"/>
            <a:ext cx="6110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55A237-BD04-345E-A2A1-1ABEB637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941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AB16A-DD98-5AFD-4E82-A19E33867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F3D341-44D6-286A-0BD5-325E262AE18A}"/>
              </a:ext>
            </a:extLst>
          </p:cNvPr>
          <p:cNvSpPr txBox="1"/>
          <p:nvPr/>
        </p:nvSpPr>
        <p:spPr>
          <a:xfrm>
            <a:off x="2096770" y="505873"/>
            <a:ext cx="94361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50000"/>
                  </a:schemeClr>
                </a:solidFill>
              </a:rPr>
              <a:t>Results and Future work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2800" b="1" dirty="0">
                <a:solidFill>
                  <a:schemeClr val="accent1"/>
                </a:solidFill>
              </a:rPr>
              <a:t>Results</a:t>
            </a:r>
            <a:r>
              <a:rPr lang="en-US" sz="2800" dirty="0"/>
              <a:t>: </a:t>
            </a:r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25–30 FPS real-time on Apple M3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Midas Touch eliminated via two-hand separation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Reliable gesture recognition after hardening</a:t>
            </a:r>
          </a:p>
          <a:p>
            <a:pPr lvl="1"/>
            <a:endParaRPr lang="en-US" sz="2800" b="1" dirty="0">
              <a:solidFill>
                <a:schemeClr val="accent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6A5415-7EBE-4AA2-D40C-BD1D9F224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C5754-8C2B-00E5-DC83-D9AB7E55BB62}"/>
              </a:ext>
            </a:extLst>
          </p:cNvPr>
          <p:cNvSpPr txBox="1"/>
          <p:nvPr/>
        </p:nvSpPr>
        <p:spPr>
          <a:xfrm>
            <a:off x="2096770" y="3577199"/>
            <a:ext cx="901769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Drag-and-drop (fist + right hand movement)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Speed-sensitive smoothing (dynamic </a:t>
            </a:r>
            <a:r>
              <a:rPr lang="el-GR" sz="2400" dirty="0"/>
              <a:t>α </a:t>
            </a:r>
            <a:r>
              <a:rPr lang="en-US" sz="2400" dirty="0"/>
              <a:t>based on velocity)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KNN classifier for custom gesture → OS shortcut mapping</a:t>
            </a:r>
            <a:endParaRPr lang="en-US" sz="2800" dirty="0"/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B647B-4978-9476-4EFC-04B8FD483EEA}"/>
              </a:ext>
            </a:extLst>
          </p:cNvPr>
          <p:cNvSpPr txBox="1"/>
          <p:nvPr/>
        </p:nvSpPr>
        <p:spPr>
          <a:xfrm>
            <a:off x="2096770" y="3577199"/>
            <a:ext cx="6111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Future Work</a:t>
            </a:r>
            <a:r>
              <a:rPr lang="en-US" sz="2800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3964060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32064B-1B86-27F8-4E4E-261DDB1ADA5F}"/>
              </a:ext>
            </a:extLst>
          </p:cNvPr>
          <p:cNvSpPr txBox="1">
            <a:spLocks/>
          </p:cNvSpPr>
          <p:nvPr/>
        </p:nvSpPr>
        <p:spPr>
          <a:xfrm>
            <a:off x="8223684" y="2904236"/>
            <a:ext cx="3068713" cy="2746756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5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E407D7DE-DA68-CDB3-8DFB-4759F46B0FFE}"/>
              </a:ext>
            </a:extLst>
          </p:cNvPr>
          <p:cNvSpPr txBox="1">
            <a:spLocks/>
          </p:cNvSpPr>
          <p:nvPr/>
        </p:nvSpPr>
        <p:spPr>
          <a:xfrm>
            <a:off x="1" y="2808958"/>
            <a:ext cx="12192000" cy="1830054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solidFill>
                  <a:schemeClr val="accent1"/>
                </a:solidFill>
              </a:rPr>
              <a:t>Thank you!</a:t>
            </a:r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06DB47A4-78F2-CFAE-25E5-8353E7A91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810" y="970956"/>
            <a:ext cx="1598379" cy="160115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97ECC9-2D32-4BA3-ED7E-1946A6A1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5C165A-08FC-DFAD-7010-1347F8AA7778}"/>
              </a:ext>
            </a:extLst>
          </p:cNvPr>
          <p:cNvSpPr txBox="1"/>
          <p:nvPr/>
        </p:nvSpPr>
        <p:spPr>
          <a:xfrm>
            <a:off x="3040487" y="4454346"/>
            <a:ext cx="61110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8542"/>
                </a:solidFill>
              </a:rPr>
              <a:t>Q&amp;A</a:t>
            </a:r>
            <a:endParaRPr lang="en-US" sz="4400" dirty="0">
              <a:solidFill>
                <a:srgbClr val="0085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518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4465F22-471A-E420-15D4-8D2E2717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12430-89C2-CBEA-516D-B4AE30E3AC5F}"/>
              </a:ext>
            </a:extLst>
          </p:cNvPr>
          <p:cNvSpPr txBox="1"/>
          <p:nvPr/>
        </p:nvSpPr>
        <p:spPr>
          <a:xfrm>
            <a:off x="1226713" y="756168"/>
            <a:ext cx="9050628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     References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C. </a:t>
            </a:r>
            <a:r>
              <a:rPr lang="en-US" sz="2000" b="1" dirty="0" err="1">
                <a:solidFill>
                  <a:schemeClr val="accent1"/>
                </a:solidFill>
              </a:rPr>
              <a:t>Lugaresi</a:t>
            </a:r>
            <a:r>
              <a:rPr lang="en-US" sz="2000" b="1" dirty="0">
                <a:solidFill>
                  <a:schemeClr val="accent1"/>
                </a:solidFill>
              </a:rPr>
              <a:t>, J. Tang, H. Nash, et al. </a:t>
            </a:r>
            <a:r>
              <a:rPr lang="en-US" sz="2000" b="1" dirty="0" err="1">
                <a:solidFill>
                  <a:schemeClr val="accent1"/>
                </a:solidFill>
              </a:rPr>
              <a:t>Mediapipe</a:t>
            </a:r>
            <a:r>
              <a:rPr lang="en-US" sz="2000" b="1" dirty="0">
                <a:solidFill>
                  <a:schemeClr val="accent1"/>
                </a:solidFill>
              </a:rPr>
              <a:t>: A framework for building perception pipelines. </a:t>
            </a:r>
            <a:r>
              <a:rPr lang="en-US" sz="2000" b="1" dirty="0" err="1">
                <a:solidFill>
                  <a:schemeClr val="accent1"/>
                </a:solidFill>
              </a:rPr>
              <a:t>arXiv</a:t>
            </a:r>
            <a:r>
              <a:rPr lang="en-US" sz="2000" b="1" dirty="0">
                <a:solidFill>
                  <a:schemeClr val="accent1"/>
                </a:solidFill>
              </a:rPr>
              <a:t> preprint arXiv:1906.08172, 2019. 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R. Szeliski. Computer Vision: Algorithms and Applications. Springer Science &amp; Business Media, 2010.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R. J. Jacob. What you look at is what you get: eye movement-based interaction techniques. Proceedings of the SIGCHI conference on Human factors in computing systems, 11-18, 1990.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Y. Zhang, C. Cao, J. Cheng, and H. Lu. </a:t>
            </a:r>
            <a:r>
              <a:rPr lang="en-US" sz="2000" b="1" dirty="0" err="1">
                <a:solidFill>
                  <a:schemeClr val="accent1"/>
                </a:solidFill>
              </a:rPr>
              <a:t>EgoGesture</a:t>
            </a:r>
            <a:r>
              <a:rPr lang="en-US" sz="2000" b="1" dirty="0">
                <a:solidFill>
                  <a:schemeClr val="accent1"/>
                </a:solidFill>
              </a:rPr>
              <a:t>: A New Dataset and Benchmark for Egocentric Hand Gesture Recognition. IEEE Transactions on Multimedia, 20(4):1036-1050, 2018.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/>
                </a:solidFill>
              </a:rPr>
              <a:t>Al Sweigart. </a:t>
            </a:r>
            <a:r>
              <a:rPr lang="en-US" sz="2000" b="1" dirty="0" err="1">
                <a:solidFill>
                  <a:schemeClr val="accent1"/>
                </a:solidFill>
              </a:rPr>
              <a:t>PyAutoGUI</a:t>
            </a:r>
            <a:r>
              <a:rPr lang="en-US" sz="2000" b="1" dirty="0">
                <a:solidFill>
                  <a:schemeClr val="accent1"/>
                </a:solidFill>
              </a:rPr>
              <a:t> Documentation. https://</a:t>
            </a:r>
            <a:r>
              <a:rPr lang="en-US" sz="2000" b="1" dirty="0" err="1">
                <a:solidFill>
                  <a:schemeClr val="accent1"/>
                </a:solidFill>
              </a:rPr>
              <a:t>pyautogui.readthedocs.io</a:t>
            </a:r>
            <a:r>
              <a:rPr lang="en-US" sz="2000" b="1" dirty="0">
                <a:solidFill>
                  <a:schemeClr val="accent1"/>
                </a:solidFill>
              </a:rPr>
              <a:t>/, accessed: 2026.</a:t>
            </a:r>
          </a:p>
        </p:txBody>
      </p:sp>
    </p:spTree>
    <p:extLst>
      <p:ext uri="{BB962C8B-B14F-4D97-AF65-F5344CB8AC3E}">
        <p14:creationId xmlns:p14="http://schemas.microsoft.com/office/powerpoint/2010/main" val="374746867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UTD 2019 Colors">
      <a:dk1>
        <a:srgbClr val="000000"/>
      </a:dk1>
      <a:lt1>
        <a:srgbClr val="FFFFFF"/>
      </a:lt1>
      <a:dk2>
        <a:srgbClr val="414141"/>
      </a:dk2>
      <a:lt2>
        <a:srgbClr val="E7E6E6"/>
      </a:lt2>
      <a:accent1>
        <a:srgbClr val="E87500"/>
      </a:accent1>
      <a:accent2>
        <a:srgbClr val="69BD28"/>
      </a:accent2>
      <a:accent3>
        <a:srgbClr val="00A0DE"/>
      </a:accent3>
      <a:accent4>
        <a:srgbClr val="FFB611"/>
      </a:accent4>
      <a:accent5>
        <a:srgbClr val="154734"/>
      </a:accent5>
      <a:accent6>
        <a:srgbClr val="5FE0B7"/>
      </a:accent6>
      <a:hlink>
        <a:srgbClr val="C8C8C8"/>
      </a:hlink>
      <a:folHlink>
        <a:srgbClr val="808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847</TotalTime>
  <Words>688</Words>
  <Application>Microsoft Macintosh PowerPoint</Application>
  <PresentationFormat>Widescreen</PresentationFormat>
  <Paragraphs>113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Urbanist</vt:lpstr>
      <vt:lpstr>Arial</vt:lpstr>
      <vt:lpstr>Calibri</vt:lpstr>
      <vt:lpstr>Lucida Grande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Benson</dc:creator>
  <cp:lastModifiedBy>Rahane, Chetan Rajendra</cp:lastModifiedBy>
  <cp:revision>44</cp:revision>
  <dcterms:created xsi:type="dcterms:W3CDTF">2017-09-15T16:01:31Z</dcterms:created>
  <dcterms:modified xsi:type="dcterms:W3CDTF">2026-05-20T03:14:29Z</dcterms:modified>
</cp:coreProperties>
</file>